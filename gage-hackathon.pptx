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 team now generates more design docs, PRDs, and threat models than it can review. The status quo is either a tired human skim or one LLM grading another — which flatters, shares blind spots with its own family, and leaves no audit trail. GAGE turns review into an adversarial matrix: chartered personas down one axis, three frontier model families — Anthropic, OpenAI, Amazon Nova — across the other. Tagline is the design philosophy: agents execute, humans authorize.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moves left to right with the pipeline on the right. 1: the manifest is the genericity trick — declare purpose and acceptance criteria, and any text becomes evaluable, including types we've never seen. 2: personas are charters with enforceable obligations, not vibes. 3: the adversarial core — a seat never grades its own model family, so consensus means independent families converged. 4: the verdict is computed by policy, not personality; humans hold the pen and the seal proves who signed what. The red card is a real demo output: the deliberately flawed sample RFC gets rejected because all three families found the same 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this is working software, not a concept. Anthropic and OpenAI run on native adapters; Amazon Nova joins via OpenRouter — per-seat providers either way. A 12-seat matrix convenes in one click with per-seat and judge model selection; the model-blind rule is enforced in code — the demo run produced 240 adjudications with zero same-family self-confirmations. Why it matters to a bank or any regulated shop: the seal makes every AI-assisted decision reconstructable. Why it scales: genres, charters, and policies are YAML. Close with the demo offer — it runs offline with zero API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GAGE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21208" y="1078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9D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 ARTIFACT GOVERNANCE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review across a </a:t>
            </a:r>
            <a:pPr indent="0" marL="0">
              <a:lnSpc>
                <a:spcPct val="112000"/>
              </a:lnSpc>
              <a:buNone/>
            </a:pPr>
            <a:r>
              <a:rPr lang="en-US" sz="1700" b="1" i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of frontier models × chartered personas</a:t>
            </a:r>
            <a:pPr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E8EE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for any document your humans, or their agents, produce.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1208" y="2697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2962656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faster than humans can review.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model reviewing another model's work is sycophantic, family-correlated, and unauditable.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“LGTM” is not evidence.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4681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C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execute · humans authorize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4681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· June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07024" y="987552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1F6F6B"/>
          </a:solidFill>
          <a:ln/>
        </p:spPr>
      </p:sp>
      <p:sp>
        <p:nvSpPr>
          <p:cNvPr id="10" name="Text 8"/>
          <p:cNvSpPr/>
          <p:nvPr/>
        </p:nvSpPr>
        <p:spPr>
          <a:xfrm>
            <a:off x="5907024" y="9875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44284" y="987552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2E7D4F"/>
          </a:solidFill>
          <a:ln/>
        </p:spPr>
      </p:sp>
      <p:sp>
        <p:nvSpPr>
          <p:cNvPr id="12" name="Text 10"/>
          <p:cNvSpPr/>
          <p:nvPr/>
        </p:nvSpPr>
        <p:spPr>
          <a:xfrm>
            <a:off x="6844284" y="9875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81544" y="987552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E0701A"/>
          </a:solidFill>
          <a:ln/>
        </p:spPr>
      </p:sp>
      <p:sp>
        <p:nvSpPr>
          <p:cNvPr id="14" name="Text 12"/>
          <p:cNvSpPr/>
          <p:nvPr/>
        </p:nvSpPr>
        <p:spPr>
          <a:xfrm>
            <a:off x="7781544" y="9875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504688" y="1472184"/>
            <a:ext cx="292608" cy="29260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6" name="Text 14"/>
          <p:cNvSpPr/>
          <p:nvPr/>
        </p:nvSpPr>
        <p:spPr>
          <a:xfrm>
            <a:off x="5504688" y="1472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07024" y="1389888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7356" y="1559052"/>
            <a:ext cx="118872" cy="118872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44284" y="1389888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1559052"/>
            <a:ext cx="118872" cy="118872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1544" y="1389888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1876" y="1559052"/>
            <a:ext cx="118872" cy="118872"/>
          </a:xfrm>
          <a:prstGeom prst="ellipse">
            <a:avLst/>
          </a:prstGeom>
          <a:solidFill>
            <a:srgbClr val="E0701A"/>
          </a:solidFill>
          <a:ln/>
        </p:spPr>
      </p:sp>
      <p:sp>
        <p:nvSpPr>
          <p:cNvPr id="23" name="Shape 21"/>
          <p:cNvSpPr/>
          <p:nvPr/>
        </p:nvSpPr>
        <p:spPr>
          <a:xfrm>
            <a:off x="5504688" y="2048256"/>
            <a:ext cx="292608" cy="29260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24" name="Text 22"/>
          <p:cNvSpPr/>
          <p:nvPr/>
        </p:nvSpPr>
        <p:spPr>
          <a:xfrm>
            <a:off x="5504688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07024" y="1965960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7356" y="2135124"/>
            <a:ext cx="118872" cy="118872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27" name="Shape 25"/>
          <p:cNvSpPr/>
          <p:nvPr/>
        </p:nvSpPr>
        <p:spPr>
          <a:xfrm>
            <a:off x="6844284" y="1965960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14616" y="2135124"/>
            <a:ext cx="118872" cy="118872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1544" y="1965960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51876" y="2135124"/>
            <a:ext cx="118872" cy="118872"/>
          </a:xfrm>
          <a:prstGeom prst="ellipse">
            <a:avLst/>
          </a:prstGeom>
          <a:solidFill>
            <a:srgbClr val="E0701A"/>
          </a:solidFill>
          <a:ln/>
        </p:spPr>
      </p:sp>
      <p:sp>
        <p:nvSpPr>
          <p:cNvPr id="31" name="Shape 29"/>
          <p:cNvSpPr/>
          <p:nvPr/>
        </p:nvSpPr>
        <p:spPr>
          <a:xfrm>
            <a:off x="5504688" y="26243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504688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07024" y="2542032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77356" y="2711196"/>
            <a:ext cx="118872" cy="118872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35" name="Shape 33"/>
          <p:cNvSpPr/>
          <p:nvPr/>
        </p:nvSpPr>
        <p:spPr>
          <a:xfrm>
            <a:off x="6844284" y="2542032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14616" y="2711196"/>
            <a:ext cx="118872" cy="118872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7" name="Shape 35"/>
          <p:cNvSpPr/>
          <p:nvPr/>
        </p:nvSpPr>
        <p:spPr>
          <a:xfrm>
            <a:off x="7781544" y="2542032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1876" y="2711196"/>
            <a:ext cx="118872" cy="118872"/>
          </a:xfrm>
          <a:prstGeom prst="ellipse">
            <a:avLst/>
          </a:prstGeom>
          <a:solidFill>
            <a:srgbClr val="E0701A"/>
          </a:solidFill>
          <a:ln/>
        </p:spPr>
      </p:sp>
      <p:sp>
        <p:nvSpPr>
          <p:cNvPr id="39" name="Shape 37"/>
          <p:cNvSpPr/>
          <p:nvPr/>
        </p:nvSpPr>
        <p:spPr>
          <a:xfrm>
            <a:off x="5504688" y="3200400"/>
            <a:ext cx="292608" cy="292608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40" name="Text 38"/>
          <p:cNvSpPr/>
          <p:nvPr/>
        </p:nvSpPr>
        <p:spPr>
          <a:xfrm>
            <a:off x="5504688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07024" y="3118104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7356" y="3287268"/>
            <a:ext cx="118872" cy="118872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43" name="Shape 41"/>
          <p:cNvSpPr/>
          <p:nvPr/>
        </p:nvSpPr>
        <p:spPr>
          <a:xfrm>
            <a:off x="6844284" y="3118104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14616" y="3287268"/>
            <a:ext cx="118872" cy="118872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45" name="Shape 43"/>
          <p:cNvSpPr/>
          <p:nvPr/>
        </p:nvSpPr>
        <p:spPr>
          <a:xfrm>
            <a:off x="7781544" y="3118104"/>
            <a:ext cx="859536" cy="457200"/>
          </a:xfrm>
          <a:prstGeom prst="roundRect">
            <a:avLst>
              <a:gd name="adj" fmla="val 10000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51876" y="3287268"/>
            <a:ext cx="118872" cy="118872"/>
          </a:xfrm>
          <a:prstGeom prst="ellipse">
            <a:avLst/>
          </a:prstGeom>
          <a:solidFill>
            <a:srgbClr val="E0701A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0" y="376732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charter argued by every family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0" y="40233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completeness · CC consistency · CT contrarian · SS security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matrix is the method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bare document to sealed verdict — one invariant pipeline; every judgment cross-examined.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329184" cy="329184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9264" y="13624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manifest makes any text evaluable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9264" y="162763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audience, and acceptance criteria are bound into the document's frontmatter — drafted automatically, confirmed by a human. Unknown artifact types welcome.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76856"/>
            <a:ext cx="329184" cy="329184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22494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Charters, not critics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9264" y="251460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carries mechanically checked obligations. A contrarian that raises nothing has breached its charter — and the report says so.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329184" cy="329184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" y="31363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Model-blind cross-exam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9264" y="3401568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seat adjudicates its own model family. Findings earn consensus across vendors, so family-correlated errors surface instead of compounding.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50792"/>
            <a:ext cx="329184" cy="329184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" y="40233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verdict, human seal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9264" y="428853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declarative policy computes the disposition; the chairman may dissent, never override. A human authorizes — sha-256 seals it all.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1389888"/>
            <a:ext cx="3200400" cy="402336"/>
          </a:xfrm>
          <a:prstGeom prst="roundRect">
            <a:avLst>
              <a:gd name="adj" fmla="val 13636"/>
            </a:avLst>
          </a:prstGeom>
          <a:solidFill>
            <a:srgbClr val="EEF1F4"/>
          </a:solidFill>
          <a:ln w="12700">
            <a:solidFill>
              <a:srgbClr val="D3DC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38988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Bind — manifest + criteria stack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40680" y="177393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1924812"/>
            <a:ext cx="3200400" cy="402336"/>
          </a:xfrm>
          <a:prstGeom prst="roundRect">
            <a:avLst>
              <a:gd name="adj" fmla="val 13636"/>
            </a:avLst>
          </a:prstGeom>
          <a:solidFill>
            <a:srgbClr val="EEF1F4"/>
          </a:solidFill>
          <a:ln w="12700">
            <a:solidFill>
              <a:srgbClr val="D3DC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92481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Independent critique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40680" y="23088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2459736"/>
            <a:ext cx="3200400" cy="402336"/>
          </a:xfrm>
          <a:prstGeom prst="roundRect">
            <a:avLst>
              <a:gd name="adj" fmla="val 13636"/>
            </a:avLst>
          </a:prstGeom>
          <a:solidFill>
            <a:srgbClr val="EEF1F4"/>
          </a:solidFill>
          <a:ln w="12700">
            <a:solidFill>
              <a:srgbClr val="D3DC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245973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Model-blind cross-exam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40680" y="284378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2994660"/>
            <a:ext cx="3200400" cy="402336"/>
          </a:xfrm>
          <a:prstGeom prst="roundRect">
            <a:avLst>
              <a:gd name="adj" fmla="val 13636"/>
            </a:avLst>
          </a:prstGeom>
          <a:solidFill>
            <a:srgbClr val="EEF1F4"/>
          </a:solidFill>
          <a:ln w="12700">
            <a:solidFill>
              <a:srgbClr val="D3DC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99466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Synthesis + policy verdict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0680" y="337870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0680" y="3529584"/>
            <a:ext cx="3200400" cy="402336"/>
          </a:xfrm>
          <a:prstGeom prst="roundRect">
            <a:avLst>
              <a:gd name="adj" fmla="val 13636"/>
            </a:avLst>
          </a:prstGeom>
          <a:solidFill>
            <a:srgbClr val="E2EEED"/>
          </a:solidFill>
          <a:ln w="12700">
            <a:solidFill>
              <a:srgbClr val="16242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577840" y="352958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Human authorize + seal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40680" y="4160520"/>
            <a:ext cx="3200400" cy="676656"/>
          </a:xfrm>
          <a:prstGeom prst="roundRect">
            <a:avLst>
              <a:gd name="adj" fmla="val 8108"/>
            </a:avLst>
          </a:prstGeom>
          <a:solidFill>
            <a:srgbClr val="F2E0E2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4160520"/>
            <a:ext cx="96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32704" y="4626864"/>
            <a:ext cx="100584" cy="100584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37" name="Shape 35"/>
          <p:cNvSpPr/>
          <p:nvPr/>
        </p:nvSpPr>
        <p:spPr>
          <a:xfrm>
            <a:off x="5788152" y="4626864"/>
            <a:ext cx="100584" cy="10058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4626864"/>
            <a:ext cx="100584" cy="100584"/>
          </a:xfrm>
          <a:prstGeom prst="ellipse">
            <a:avLst/>
          </a:prstGeom>
          <a:solidFill>
            <a:srgbClr val="E0701A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4206240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cross-vendor-blocking: three families independently flagged the missing rollback plan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48646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0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pipeline · one finding schema · 8 defect kinds · all variation lives in YAML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tested, demoable today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F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families on the bench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836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OpenAI · Amazon Nova — one council, per-seat providers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91840" y="91440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F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91840" y="1627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in one click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8836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× models, prunable cell by cell, judge selectable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80760" y="91440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F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80760" y="16276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same-family self-reviews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18836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adjudications in the demo run — model-blind, enforced in code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evidence.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sealed — sha-256 over the plan, every critique, every verdict, every dismissal reason, and the human decision. Audit becomes a query, not archaeology.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is YAML, not code.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artifact type, charter, or disposition policy is ~20 declarative lines.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Zero-key demo, CI-ready.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mock engine runs the full adversarial matrix offline; the CLI exit code gates pipelines.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267004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8756" y="2784348"/>
            <a:ext cx="82296" cy="82296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267004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5956" y="2784348"/>
            <a:ext cx="82296" cy="82296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2670048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63156" y="2784348"/>
            <a:ext cx="82296" cy="82296"/>
          </a:xfrm>
          <a:prstGeom prst="ellipse">
            <a:avLst/>
          </a:prstGeom>
          <a:solidFill>
            <a:srgbClr val="E0701A"/>
          </a:solidFill>
          <a:ln/>
        </p:spPr>
      </p:sp>
      <p:sp>
        <p:nvSpPr>
          <p:cNvPr id="19" name="Shape 17"/>
          <p:cNvSpPr/>
          <p:nvPr/>
        </p:nvSpPr>
        <p:spPr>
          <a:xfrm>
            <a:off x="5897880" y="3054096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48756" y="3168396"/>
            <a:ext cx="82296" cy="82296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3054096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05956" y="3168396"/>
            <a:ext cx="82296" cy="82296"/>
          </a:xfrm>
          <a:prstGeom prst="ellipse">
            <a:avLst/>
          </a:prstGeom>
          <a:solidFill>
            <a:srgbClr val="E0701A"/>
          </a:solidFill>
          <a:ln/>
        </p:spPr>
      </p:sp>
      <p:sp>
        <p:nvSpPr>
          <p:cNvPr id="23" name="Shape 21"/>
          <p:cNvSpPr/>
          <p:nvPr/>
        </p:nvSpPr>
        <p:spPr>
          <a:xfrm>
            <a:off x="6812280" y="3054096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3156" y="3168396"/>
            <a:ext cx="82296" cy="82296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25" name="Shape 23"/>
          <p:cNvSpPr/>
          <p:nvPr/>
        </p:nvSpPr>
        <p:spPr>
          <a:xfrm>
            <a:off x="5897880" y="343814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8756" y="3552444"/>
            <a:ext cx="82296" cy="82296"/>
          </a:xfrm>
          <a:prstGeom prst="ellipse">
            <a:avLst/>
          </a:prstGeom>
          <a:solidFill>
            <a:srgbClr val="E0701A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343814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05956" y="3552444"/>
            <a:ext cx="82296" cy="82296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29" name="Shape 27"/>
          <p:cNvSpPr/>
          <p:nvPr/>
        </p:nvSpPr>
        <p:spPr>
          <a:xfrm>
            <a:off x="6812280" y="3438144"/>
            <a:ext cx="384048" cy="310896"/>
          </a:xfrm>
          <a:prstGeom prst="roundRect">
            <a:avLst>
              <a:gd name="adj" fmla="val 11765"/>
            </a:avLst>
          </a:prstGeom>
          <a:solidFill>
            <a:srgbClr val="213544"/>
          </a:solidFill>
          <a:ln w="12700">
            <a:solidFill>
              <a:srgbClr val="2E46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3156" y="3552444"/>
            <a:ext cx="82296" cy="82296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2724912"/>
            <a:ext cx="914400" cy="914400"/>
          </a:xfrm>
          <a:prstGeom prst="ellipse">
            <a:avLst/>
          </a:prstGeom>
          <a:solidFill>
            <a:srgbClr val="16242F"/>
          </a:solidFill>
          <a:ln w="31750">
            <a:solidFill>
              <a:srgbClr val="7FC4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99832" y="2889504"/>
            <a:ext cx="585216" cy="585216"/>
          </a:xfrm>
          <a:prstGeom prst="ellipse">
            <a:avLst/>
          </a:prstGeom>
          <a:solidFill>
            <a:srgbClr val="E2EEED"/>
          </a:solidFill>
          <a:ln/>
        </p:spPr>
      </p:sp>
      <p:sp>
        <p:nvSpPr>
          <p:cNvPr id="33" name="Text 31"/>
          <p:cNvSpPr/>
          <p:nvPr/>
        </p:nvSpPr>
        <p:spPr>
          <a:xfrm>
            <a:off x="7799832" y="28895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897880" y="3950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 · 9f2c41ae…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437083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A9D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is distributed. Decision is mechanical. Authority is human — and the seal proves all three.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02920" y="47548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python run.py → load the sample RFC → watch three families reject 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GAGE — value proposition</dc:title>
  <dc:subject>PptxGenJS Presentation</dc:subject>
  <dc:creator>GAGE</dc:creator>
  <cp:lastModifiedBy>GAGE</cp:lastModifiedBy>
  <cp:revision>1</cp:revision>
  <dcterms:created xsi:type="dcterms:W3CDTF">2026-06-11T23:52:46Z</dcterms:created>
  <dcterms:modified xsi:type="dcterms:W3CDTF">2026-06-11T23:52:46Z</dcterms:modified>
</cp:coreProperties>
</file>